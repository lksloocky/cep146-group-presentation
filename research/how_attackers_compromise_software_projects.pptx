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https://docs.npmjs.com/threats-and-mitigations/
- https://docs.github.com/en/authentication/keeping-your-account-and-data-secure/managing-your-personal-access-tokens
- https://docs.github.com/en/actions/security-guides/security-hardening-for-github-actions
- https://docs.github.com/actions/reference/security/securely-using-pull_request_target
- https://github.blog/security/supply-chain-security/our-plan-for-a-more-secure-npm-supply-chain/
- https://github.blog/security/supply-chain-security/disrupting-supply-chain-attacks-on-npm-and-github-actions/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https://docs.npmjs.com/threats-and-mitigations/
- https://docs.github.com/en/actions/security-guides/security-hardening-for-github-actions
- https://docs.github.com/actions/reference/security/securely-using-pull_request_target
- https://github.blog/security/supply-chain-security/our-plan-for-a-more-secure-npm-supply-chain/
- https://github.blog/security/supply-chain-security/disrupting-supply-chain-attacks-on-npm-and-github-actions/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B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E69A"/>
          </a:solidFill>
          <a:ln w="12700">
            <a:solidFill>
              <a:srgbClr val="36E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7F8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SUPPLY-CHAIN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835640" y="64739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D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D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Attackers Compromise Software Projects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common ways trust in packages, accounts, tokens, and automation can be abused.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572768"/>
            <a:ext cx="393192" cy="393192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60020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Compromised accounts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Phishing, stolen passwords, email compromise, or stolen tokens can let an attacker impersonate a maintainer.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2587752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0664" y="2743200"/>
            <a:ext cx="393192" cy="3931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77063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24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Stolen authentication credentials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" y="320040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npm tokens, GitHub PATs, OAuth tokens, and cloud credentials may provide publishing or repository access.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0664" y="3913632"/>
            <a:ext cx="393192" cy="393192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94106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895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Malicious package updates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" y="43708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With publishing access, an attacker can insert malicious code into a trusted package version, including install-time scripts.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94360" y="4928616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" y="5084064"/>
            <a:ext cx="393192" cy="393192"/>
          </a:xfrm>
          <a:prstGeom prst="ellipse">
            <a:avLst/>
          </a:prstGeom>
          <a:solidFill>
            <a:srgbClr val="B58BFF"/>
          </a:solidFill>
          <a:ln w="12700">
            <a:solidFill>
              <a:srgbClr val="B5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511149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0657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Malicious npm packages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554126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Typosquatting and dependency confusion can trick developers into installing an attacker-controlled package.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81928" y="14173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1572768"/>
            <a:ext cx="393192" cy="393192"/>
          </a:xfrm>
          <a:prstGeom prst="ellipse">
            <a:avLst/>
          </a:prstGeom>
          <a:solidFill>
            <a:srgbClr val="59A9FF"/>
          </a:solidFill>
          <a:ln w="12700">
            <a:solidFill>
              <a:srgbClr val="59A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600200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2008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Repository access tokens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46520" y="202996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A stolen token with write permission can enable code changes, releases, workflow edits, or access to other project resources.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281928" y="2587752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2743200"/>
            <a:ext cx="393192" cy="393192"/>
          </a:xfrm>
          <a:prstGeom prst="ellipse">
            <a:avLst/>
          </a:prstGeom>
          <a:solidFill>
            <a:srgbClr val="36E69A"/>
          </a:solidFill>
          <a:ln w="12700">
            <a:solidFill>
              <a:srgbClr val="36E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770632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22008" y="2724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GitHub Actions workflows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3200400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Unsafe workflows can run untrusted pull-request code with access to secrets or the GITHUB_TOKEN.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281928" y="3758184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51C2E"/>
          </a:solidFill>
          <a:ln w="12700">
            <a:solidFill>
              <a:srgbClr val="2C3852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8232" y="3913632"/>
            <a:ext cx="393192" cy="393192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941064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01A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22008" y="3895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Spreading between repositories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46520" y="437083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AB4C8"/>
                </a:solidFill>
              </a:rPr>
              <a:t>Malware can search developer machines or CI runners for more credentials, then reuse them to compromise other projects.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281928" y="4928616"/>
            <a:ext cx="5303520" cy="1005840"/>
          </a:xfrm>
          <a:prstGeom prst="roundRect">
            <a:avLst/>
          </a:prstGeom>
          <a:solidFill>
            <a:srgbClr val="0F2530"/>
          </a:solidFill>
          <a:ln w="19050">
            <a:solidFill>
              <a:srgbClr val="36E6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5093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6E69A"/>
                </a:solidFill>
              </a:rPr>
              <a:t>KEY IDEA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64808" y="54041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Attackers target the development process itself, not only the finished application.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4360" y="61447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19D"/>
                </a:solidFill>
              </a:rPr>
              <a:t>Sources: npm Docs · GitHub Docs · GitHub Blog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D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“Trusted Package” to Supply-Chain Compromise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attack flow and terminal checks.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36E6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27048"/>
            <a:ext cx="347472" cy="347472"/>
          </a:xfrm>
          <a:prstGeom prst="ellipse">
            <a:avLst/>
          </a:prstGeom>
          <a:solidFill>
            <a:srgbClr val="36E69A"/>
          </a:solidFill>
          <a:ln w="12700">
            <a:solidFill>
              <a:srgbClr val="36E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590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545336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Trusted npm package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 rot="5400000">
            <a:off x="2926080" y="2002536"/>
            <a:ext cx="347472" cy="164592"/>
          </a:xfrm>
          <a:prstGeom prst="chevron">
            <a:avLst/>
          </a:prstGeom>
          <a:solidFill>
            <a:srgbClr val="52607A"/>
          </a:solidFill>
          <a:ln w="12700">
            <a:solidFill>
              <a:srgbClr val="526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76272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59A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286000"/>
            <a:ext cx="347472" cy="347472"/>
          </a:xfrm>
          <a:prstGeom prst="ellipse">
            <a:avLst/>
          </a:prstGeom>
          <a:solidFill>
            <a:srgbClr val="59A9FF"/>
          </a:solidFill>
          <a:ln w="12700">
            <a:solidFill>
              <a:srgbClr val="59A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180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304288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Developer runs npm install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926080" y="2761488"/>
            <a:ext cx="347472" cy="164592"/>
          </a:xfrm>
          <a:prstGeom prst="chevron">
            <a:avLst/>
          </a:prstGeom>
          <a:solidFill>
            <a:srgbClr val="52607A"/>
          </a:solidFill>
          <a:ln w="12700">
            <a:solidFill>
              <a:srgbClr val="5260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935224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FF65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044952"/>
            <a:ext cx="347472" cy="347472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07695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Hidden post-install script executes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 rot="5400000">
            <a:off x="2926080" y="3520440"/>
            <a:ext cx="347472" cy="164592"/>
          </a:xfrm>
          <a:prstGeom prst="chevron">
            <a:avLst/>
          </a:prstGeom>
          <a:solidFill>
            <a:srgbClr val="52607A"/>
          </a:solidFill>
          <a:ln w="12700">
            <a:solidFill>
              <a:srgbClr val="5260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694176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803904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359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382219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npm, GitHub + cloud tokens stolen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 rot="5400000">
            <a:off x="2926080" y="4279392"/>
            <a:ext cx="347472" cy="164592"/>
          </a:xfrm>
          <a:prstGeom prst="chevron">
            <a:avLst/>
          </a:prstGeom>
          <a:solidFill>
            <a:srgbClr val="52607A"/>
          </a:solidFill>
          <a:ln w="12700">
            <a:solidFill>
              <a:srgbClr val="5260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453128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FF65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562856"/>
            <a:ext cx="347472" cy="347472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5948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4581144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Malicious package versions published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 rot="5400000">
            <a:off x="2926080" y="5038344"/>
            <a:ext cx="347472" cy="164592"/>
          </a:xfrm>
          <a:prstGeom prst="chevron">
            <a:avLst/>
          </a:prstGeom>
          <a:solidFill>
            <a:srgbClr val="52607A"/>
          </a:solidFill>
          <a:ln w="12700">
            <a:solidFill>
              <a:srgbClr val="5260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5212080"/>
            <a:ext cx="4892040" cy="566928"/>
          </a:xfrm>
          <a:prstGeom prst="roundRect">
            <a:avLst/>
          </a:prstGeom>
          <a:solidFill>
            <a:srgbClr val="151C2E"/>
          </a:solidFill>
          <a:ln w="17780">
            <a:solidFill>
              <a:srgbClr val="B58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5321808"/>
            <a:ext cx="347472" cy="347472"/>
          </a:xfrm>
          <a:prstGeom prst="ellipse">
            <a:avLst/>
          </a:prstGeom>
          <a:solidFill>
            <a:srgbClr val="B58BFF"/>
          </a:solidFill>
          <a:ln w="12700">
            <a:solidFill>
              <a:srgbClr val="B5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53538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01A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5340096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B"/>
                </a:solidFill>
              </a:rPr>
              <a:t>More developers + repositories infected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897880" y="1417320"/>
            <a:ext cx="5669280" cy="4526280"/>
          </a:xfrm>
          <a:prstGeom prst="roundRect">
            <a:avLst/>
          </a:prstGeom>
          <a:solidFill>
            <a:srgbClr val="080D16"/>
          </a:solidFill>
          <a:ln w="17780">
            <a:solidFill>
              <a:srgbClr val="26334B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97880" y="1417320"/>
            <a:ext cx="5669280" cy="402336"/>
          </a:xfrm>
          <a:prstGeom prst="rect">
            <a:avLst/>
          </a:prstGeom>
          <a:solidFill>
            <a:srgbClr val="121A2A"/>
          </a:solidFill>
          <a:ln w="12700">
            <a:solidFill>
              <a:srgbClr val="121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62472" y="1536192"/>
            <a:ext cx="100584" cy="100584"/>
          </a:xfrm>
          <a:prstGeom prst="ellipse">
            <a:avLst/>
          </a:prstGeom>
          <a:solidFill>
            <a:srgbClr val="FF6577"/>
          </a:solidFill>
          <a:ln w="12700">
            <a:solidFill>
              <a:srgbClr val="FF65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1536192"/>
            <a:ext cx="100584" cy="1005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19672" y="1536192"/>
            <a:ext cx="100584" cy="100584"/>
          </a:xfrm>
          <a:prstGeom prst="ellipse">
            <a:avLst/>
          </a:prstGeom>
          <a:solidFill>
            <a:srgbClr val="36E69A"/>
          </a:solidFill>
          <a:ln w="12700">
            <a:solidFill>
              <a:srgbClr val="36E6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15133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•  simulated output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199339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6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trusted-package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6172200" y="220370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A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trusted-package@2.4.1 postinstall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6172200" y="241401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 scripts/postinstall.js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6172200" y="262432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unexpected network activity detected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6172200" y="283464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6172200" y="304495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6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audit</a:t>
            </a:r>
            <a:endParaRPr lang="en-US" sz="1130" dirty="0"/>
          </a:p>
        </p:txBody>
      </p:sp>
      <p:sp>
        <p:nvSpPr>
          <p:cNvPr id="45" name="Text 43"/>
          <p:cNvSpPr/>
          <p:nvPr/>
        </p:nvSpPr>
        <p:spPr>
          <a:xfrm>
            <a:off x="6172200" y="325526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critical vulnerability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6172200" y="346557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6172200" y="367588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6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--short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6172200" y="388620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.github/workflows/release.yml</a:t>
            </a:r>
            <a:endParaRPr lang="en-US" sz="1130" dirty="0"/>
          </a:p>
        </p:txBody>
      </p:sp>
      <p:sp>
        <p:nvSpPr>
          <p:cNvPr id="49" name="Text 47"/>
          <p:cNvSpPr/>
          <p:nvPr/>
        </p:nvSpPr>
        <p:spPr>
          <a:xfrm>
            <a:off x="6172200" y="409651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30" dirty="0"/>
          </a:p>
        </p:txBody>
      </p:sp>
      <p:sp>
        <p:nvSpPr>
          <p:cNvPr id="50" name="Text 48"/>
          <p:cNvSpPr/>
          <p:nvPr/>
        </p:nvSpPr>
        <p:spPr>
          <a:xfrm>
            <a:off x="6172200" y="430682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6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audit --omit=dev</a:t>
            </a:r>
            <a:endParaRPr lang="en-US" sz="1130" dirty="0"/>
          </a:p>
        </p:txBody>
      </p:sp>
      <p:sp>
        <p:nvSpPr>
          <p:cNvPr id="51" name="Text 49"/>
          <p:cNvSpPr/>
          <p:nvPr/>
        </p:nvSpPr>
        <p:spPr>
          <a:xfrm>
            <a:off x="6172200" y="451713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A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production dependency risk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6172200" y="4727448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30" dirty="0"/>
          </a:p>
        </p:txBody>
      </p:sp>
      <p:sp>
        <p:nvSpPr>
          <p:cNvPr id="53" name="Text 51"/>
          <p:cNvSpPr/>
          <p:nvPr/>
        </p:nvSpPr>
        <p:spPr>
          <a:xfrm>
            <a:off x="6172200" y="493776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6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workflow list</a:t>
            </a:r>
            <a:endParaRPr lang="en-US" sz="1130" dirty="0"/>
          </a:p>
        </p:txBody>
      </p:sp>
      <p:sp>
        <p:nvSpPr>
          <p:cNvPr id="54" name="Text 52"/>
          <p:cNvSpPr/>
          <p:nvPr/>
        </p:nvSpPr>
        <p:spPr>
          <a:xfrm>
            <a:off x="6172200" y="514807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9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release.yml   active   ← inspect changes</a:t>
            </a:r>
            <a:endParaRPr lang="en-US" sz="1130" dirty="0"/>
          </a:p>
        </p:txBody>
      </p:sp>
      <p:sp>
        <p:nvSpPr>
          <p:cNvPr id="55" name="Text 53"/>
          <p:cNvSpPr/>
          <p:nvPr/>
        </p:nvSpPr>
        <p:spPr>
          <a:xfrm>
            <a:off x="6172200" y="5550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491AA"/>
                </a:solidFill>
              </a:rPr>
              <a:t>Illustrative only: these commands are defensive checks, not proof that a package is safe.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5800" y="6062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577"/>
                </a:solidFill>
              </a:rPr>
              <a:t>ATTACK CHAIN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74520" y="6044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B"/>
                </a:solidFill>
              </a:rPr>
              <a:t>Trust → execution → credential theft → propagation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132320" y="60716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3819D"/>
                </a:solidFill>
              </a:rPr>
              <a:t>Sources: npm Docs · GitHub Docs · GitHub Blog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D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Course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Attackers Compromise Software Projects</dc:title>
  <dc:subject>Software supply-chain attacks</dc:subject>
  <dc:creator>OpenAI</dc:creator>
  <cp:lastModifiedBy>OpenAI</cp:lastModifiedBy>
  <cp:revision>1</cp:revision>
  <dcterms:created xsi:type="dcterms:W3CDTF">2026-10-17T21:11:28Z</dcterms:created>
  <dcterms:modified xsi:type="dcterms:W3CDTF">2026-10-17T21:11:28Z</dcterms:modified>
</cp:coreProperties>
</file>