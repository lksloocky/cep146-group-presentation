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PDF: how_attackers_compromise_software_projects.pdf
- npm Docs: Threats and Mitigations
- GitHub Docs: Secure use reference / pull_request_target guidance
- GitHub Blog: npm supply-chain security articles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E69A"/>
          </a:solidFill>
          <a:ln w="12700">
            <a:solidFill>
              <a:srgbClr val="35E6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922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8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SUPPLY-CHAIN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744200" y="6492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Attackers Compromise Software Projects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Attackers exploit trust in accounts, packages, tokens, and automation.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3657600" cy="932688"/>
          </a:xfrm>
          <a:prstGeom prst="roundRect">
            <a:avLst>
              <a:gd name="adj" fmla="val 5882"/>
            </a:avLst>
          </a:prstGeom>
          <a:solidFill>
            <a:srgbClr val="161F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438912" cy="438912"/>
          </a:xfrm>
          <a:prstGeom prst="ellipse">
            <a:avLst/>
          </a:prstGeom>
          <a:solidFill>
            <a:srgbClr val="FF5A6A"/>
          </a:solidFill>
          <a:ln w="12700">
            <a:solidFill>
              <a:srgbClr val="FF5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40817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4F7FA"/>
                </a:solidFill>
              </a:rPr>
              <a:t>Compromised accounts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1225296" y="17099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AAB6CC"/>
                </a:solidFill>
              </a:rPr>
              <a:t>Phishing or stolen credentials can let an attacker impersonate a maintainer.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3657600" cy="932688"/>
          </a:xfrm>
          <a:prstGeom prst="roundRect">
            <a:avLst>
              <a:gd name="adj" fmla="val 5882"/>
            </a:avLst>
          </a:prstGeom>
          <a:solidFill>
            <a:srgbClr val="161F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87168"/>
            <a:ext cx="438912" cy="438912"/>
          </a:xfrm>
          <a:prstGeom prst="ellipse">
            <a:avLst/>
          </a:prstGeom>
          <a:solidFill>
            <a:srgbClr val="FFD05A"/>
          </a:solidFill>
          <a:ln w="12700">
            <a:solidFill>
              <a:srgbClr val="FFD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5117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45059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4F7FA"/>
                </a:solidFill>
              </a:rPr>
              <a:t>Stolen tokens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1225296" y="27523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AAB6CC"/>
                </a:solidFill>
              </a:rPr>
              <a:t>npm, GitHub, OAuth, and cloud tokens may provide publishing or repository access.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3657600" cy="932688"/>
          </a:xfrm>
          <a:prstGeom prst="roundRect">
            <a:avLst>
              <a:gd name="adj" fmla="val 5882"/>
            </a:avLst>
          </a:prstGeom>
          <a:solidFill>
            <a:srgbClr val="161F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529584"/>
            <a:ext cx="438912" cy="438912"/>
          </a:xfrm>
          <a:prstGeom prst="ellipse">
            <a:avLst/>
          </a:prstGeom>
          <a:solidFill>
            <a:srgbClr val="5CB2FF"/>
          </a:solidFill>
          <a:ln w="12700">
            <a:solidFill>
              <a:srgbClr val="5CB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59359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4930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4F7FA"/>
                </a:solidFill>
              </a:rPr>
              <a:t>Malicious package updates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1225296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AAB6CC"/>
                </a:solidFill>
              </a:rPr>
              <a:t>Publishing access can insert harmful install-time or post-install code.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02920" y="4389120"/>
            <a:ext cx="3657600" cy="932688"/>
          </a:xfrm>
          <a:prstGeom prst="roundRect">
            <a:avLst>
              <a:gd name="adj" fmla="val 5882"/>
            </a:avLst>
          </a:prstGeom>
          <a:solidFill>
            <a:srgbClr val="161F33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72000"/>
            <a:ext cx="438912" cy="438912"/>
          </a:xfrm>
          <a:prstGeom prst="ellipse">
            <a:avLst/>
          </a:prstGeom>
          <a:solidFill>
            <a:srgbClr val="AA88FF"/>
          </a:solidFill>
          <a:ln w="12700">
            <a:solidFill>
              <a:srgbClr val="AA8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636008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020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25296" y="453542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F4F7FA"/>
                </a:solidFill>
              </a:rPr>
              <a:t>Unsafe GitHub Actions</a:t>
            </a:r>
            <a:endParaRPr lang="en-US" sz="1520" dirty="0"/>
          </a:p>
        </p:txBody>
      </p:sp>
      <p:sp>
        <p:nvSpPr>
          <p:cNvPr id="23" name="Text 21"/>
          <p:cNvSpPr/>
          <p:nvPr/>
        </p:nvSpPr>
        <p:spPr>
          <a:xfrm>
            <a:off x="1225296" y="483717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AAB6CC"/>
                </a:solidFill>
              </a:rPr>
              <a:t>Untrusted pull-request code may run with access to secrets or GITHUB_TOKEN.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4443984" y="12344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FF5A6A"/>
                </a:solidFill>
              </a:rPr>
              <a:t>ATTACK CHAIN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43984" y="1554480"/>
            <a:ext cx="2221992" cy="502920"/>
          </a:xfrm>
          <a:prstGeom prst="roundRect">
            <a:avLst/>
          </a:prstGeom>
          <a:solidFill>
            <a:srgbClr val="121A2A"/>
          </a:solidFill>
          <a:ln w="17780">
            <a:solidFill>
              <a:srgbClr val="35E6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170078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4F7FA"/>
                </a:solidFill>
              </a:rPr>
              <a:t>Trusted npm package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5554980" y="2093976"/>
            <a:ext cx="0" cy="137160"/>
          </a:xfrm>
          <a:prstGeom prst="line">
            <a:avLst/>
          </a:prstGeom>
          <a:noFill/>
          <a:ln w="25400">
            <a:solidFill>
              <a:srgbClr val="64718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43984" y="2267712"/>
            <a:ext cx="2221992" cy="502920"/>
          </a:xfrm>
          <a:prstGeom prst="roundRect">
            <a:avLst/>
          </a:prstGeom>
          <a:solidFill>
            <a:srgbClr val="121A2A"/>
          </a:solidFill>
          <a:ln w="17780">
            <a:solidFill>
              <a:srgbClr val="5CB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41401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4F7FA"/>
                </a:solidFill>
              </a:rPr>
              <a:t>npm install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5554980" y="2807208"/>
            <a:ext cx="0" cy="137160"/>
          </a:xfrm>
          <a:prstGeom prst="line">
            <a:avLst/>
          </a:prstGeom>
          <a:noFill/>
          <a:ln w="25400">
            <a:solidFill>
              <a:srgbClr val="64718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443984" y="2980944"/>
            <a:ext cx="2221992" cy="502920"/>
          </a:xfrm>
          <a:prstGeom prst="roundRect">
            <a:avLst/>
          </a:prstGeom>
          <a:solidFill>
            <a:srgbClr val="121A2A"/>
          </a:solidFill>
          <a:ln w="17780">
            <a:solidFill>
              <a:srgbClr val="FF5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3127248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4F7FA"/>
                </a:solidFill>
              </a:rPr>
              <a:t>Post-install script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5554980" y="3520440"/>
            <a:ext cx="0" cy="137160"/>
          </a:xfrm>
          <a:prstGeom prst="line">
            <a:avLst/>
          </a:prstGeom>
          <a:noFill/>
          <a:ln w="25400">
            <a:solidFill>
              <a:srgbClr val="64718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43984" y="3694176"/>
            <a:ext cx="2221992" cy="502920"/>
          </a:xfrm>
          <a:prstGeom prst="roundRect">
            <a:avLst/>
          </a:prstGeom>
          <a:solidFill>
            <a:srgbClr val="121A2A"/>
          </a:solidFill>
          <a:ln w="17780">
            <a:solidFill>
              <a:srgbClr val="FFD0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384048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4F7FA"/>
                </a:solidFill>
              </a:rPr>
              <a:t>Tokens stolen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5554980" y="4233672"/>
            <a:ext cx="0" cy="137160"/>
          </a:xfrm>
          <a:prstGeom prst="line">
            <a:avLst/>
          </a:prstGeom>
          <a:noFill/>
          <a:ln w="25400">
            <a:solidFill>
              <a:srgbClr val="64718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443984" y="4407408"/>
            <a:ext cx="2221992" cy="502920"/>
          </a:xfrm>
          <a:prstGeom prst="roundRect">
            <a:avLst/>
          </a:prstGeom>
          <a:solidFill>
            <a:srgbClr val="121A2A"/>
          </a:solidFill>
          <a:ln w="17780">
            <a:solidFill>
              <a:srgbClr val="FF5A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455371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4F7FA"/>
                </a:solidFill>
              </a:rPr>
              <a:t>Infected versions published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5554980" y="4946904"/>
            <a:ext cx="0" cy="137160"/>
          </a:xfrm>
          <a:prstGeom prst="line">
            <a:avLst/>
          </a:prstGeom>
          <a:noFill/>
          <a:ln w="25400">
            <a:solidFill>
              <a:srgbClr val="64718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443984" y="5120640"/>
            <a:ext cx="2221992" cy="502920"/>
          </a:xfrm>
          <a:prstGeom prst="roundRect">
            <a:avLst/>
          </a:prstGeom>
          <a:solidFill>
            <a:srgbClr val="121A2A"/>
          </a:solidFill>
          <a:ln w="17780">
            <a:solidFill>
              <a:srgbClr val="AA88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5266944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4F7FA"/>
                </a:solidFill>
              </a:rPr>
              <a:t>More repos compromised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4352544" y="59893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AB6CC"/>
                </a:solidFill>
              </a:rPr>
              <a:t>Trust → execution → credential theft → propagation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995160" y="1261872"/>
            <a:ext cx="4681728" cy="4919472"/>
          </a:xfrm>
          <a:prstGeom prst="roundRect">
            <a:avLst/>
          </a:prstGeom>
          <a:solidFill>
            <a:srgbClr val="101725"/>
          </a:solidFill>
          <a:ln w="15240">
            <a:solidFill>
              <a:srgbClr val="2A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95160" y="1261872"/>
            <a:ext cx="4681728" cy="457200"/>
          </a:xfrm>
          <a:prstGeom prst="rect">
            <a:avLst/>
          </a:prstGeom>
          <a:solidFill>
            <a:srgbClr val="182239"/>
          </a:solidFill>
          <a:ln w="12700">
            <a:solidFill>
              <a:srgbClr val="18223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87184" y="1417320"/>
            <a:ext cx="91440" cy="91440"/>
          </a:xfrm>
          <a:prstGeom prst="ellipse">
            <a:avLst/>
          </a:prstGeom>
          <a:solidFill>
            <a:srgbClr val="FF5A6A"/>
          </a:solidFill>
          <a:ln w="12700">
            <a:solidFill>
              <a:srgbClr val="FF5A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0064" y="1417320"/>
            <a:ext cx="91440" cy="91440"/>
          </a:xfrm>
          <a:prstGeom prst="ellipse">
            <a:avLst/>
          </a:prstGeom>
          <a:solidFill>
            <a:srgbClr val="FFD05A"/>
          </a:solidFill>
          <a:ln w="12700">
            <a:solidFill>
              <a:srgbClr val="FFD05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52944" y="1417320"/>
            <a:ext cx="91440" cy="91440"/>
          </a:xfrm>
          <a:prstGeom prst="ellipse">
            <a:avLst/>
          </a:prstGeom>
          <a:solidFill>
            <a:srgbClr val="35E69A"/>
          </a:solidFill>
          <a:ln w="12700">
            <a:solidFill>
              <a:srgbClr val="35E6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45552" y="13716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•  simulated output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269480" y="1883664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5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trusted-package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7269480" y="2167128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7DD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trusted-package@2.4.1 postinstall</a:t>
            </a:r>
            <a:endParaRPr lang="en-US" sz="1120" dirty="0"/>
          </a:p>
        </p:txBody>
      </p:sp>
      <p:sp>
        <p:nvSpPr>
          <p:cNvPr id="51" name="Text 49"/>
          <p:cNvSpPr/>
          <p:nvPr/>
        </p:nvSpPr>
        <p:spPr>
          <a:xfrm>
            <a:off x="7269480" y="2450592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node scripts/postinstall.js</a:t>
            </a:r>
            <a:endParaRPr lang="en-US" sz="1120" dirty="0"/>
          </a:p>
        </p:txBody>
      </p:sp>
      <p:sp>
        <p:nvSpPr>
          <p:cNvPr id="52" name="Text 50"/>
          <p:cNvSpPr/>
          <p:nvPr/>
        </p:nvSpPr>
        <p:spPr>
          <a:xfrm>
            <a:off x="7269480" y="2734056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D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unexpected network activity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7269480" y="3172968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5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audit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7269480" y="3456432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critical vulnerability</a:t>
            </a:r>
            <a:endParaRPr lang="en-US" sz="1120" dirty="0"/>
          </a:p>
        </p:txBody>
      </p:sp>
      <p:sp>
        <p:nvSpPr>
          <p:cNvPr id="55" name="Text 53"/>
          <p:cNvSpPr/>
          <p:nvPr/>
        </p:nvSpPr>
        <p:spPr>
          <a:xfrm>
            <a:off x="7269480" y="3895344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5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 --short</a:t>
            </a:r>
            <a:endParaRPr lang="en-US" sz="1120" dirty="0"/>
          </a:p>
        </p:txBody>
      </p:sp>
      <p:sp>
        <p:nvSpPr>
          <p:cNvPr id="56" name="Text 54"/>
          <p:cNvSpPr/>
          <p:nvPr/>
        </p:nvSpPr>
        <p:spPr>
          <a:xfrm>
            <a:off x="7269480" y="4178808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D0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.github/workflows/release.yml</a:t>
            </a:r>
            <a:endParaRPr lang="en-US" sz="1120" dirty="0"/>
          </a:p>
        </p:txBody>
      </p:sp>
      <p:sp>
        <p:nvSpPr>
          <p:cNvPr id="57" name="Text 55"/>
          <p:cNvSpPr/>
          <p:nvPr/>
        </p:nvSpPr>
        <p:spPr>
          <a:xfrm>
            <a:off x="7269480" y="4617720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35E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gh workflow list</a:t>
            </a:r>
            <a:endParaRPr lang="en-US" sz="1120" dirty="0"/>
          </a:p>
        </p:txBody>
      </p:sp>
      <p:sp>
        <p:nvSpPr>
          <p:cNvPr id="58" name="Text 56"/>
          <p:cNvSpPr/>
          <p:nvPr/>
        </p:nvSpPr>
        <p:spPr>
          <a:xfrm>
            <a:off x="7269480" y="4901184"/>
            <a:ext cx="40965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CB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release.yml   active   ← inspect</a:t>
            </a:r>
            <a:endParaRPr lang="en-US" sz="1120" dirty="0"/>
          </a:p>
        </p:txBody>
      </p:sp>
      <p:sp>
        <p:nvSpPr>
          <p:cNvPr id="59" name="Text 57"/>
          <p:cNvSpPr/>
          <p:nvPr/>
        </p:nvSpPr>
        <p:spPr>
          <a:xfrm>
            <a:off x="7269480" y="571500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8894AC"/>
                </a:solidFill>
              </a:rPr>
              <a:t>Illustrative only: these commands are defensive checks, not proof that a package is safe.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7635240" y="320040"/>
            <a:ext cx="4041648" cy="713232"/>
          </a:xfrm>
          <a:prstGeom prst="roundRect">
            <a:avLst/>
          </a:prstGeom>
          <a:solidFill>
            <a:srgbClr val="0E2525">
              <a:alpha val="92000"/>
            </a:srgbClr>
          </a:solidFill>
          <a:ln w="19050">
            <a:solidFill>
              <a:srgbClr val="35E6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18120" y="43891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E69A"/>
                </a:solidFill>
              </a:rPr>
              <a:t>KEY IDEA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577072" y="39319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F4F7FA"/>
                </a:solidFill>
              </a:rPr>
              <a:t>Attack the development process, not just the finished app.</a:t>
            </a:r>
            <a:endParaRPr lang="en-US" sz="1280" dirty="0"/>
          </a:p>
        </p:txBody>
      </p:sp>
      <p:sp>
        <p:nvSpPr>
          <p:cNvPr id="63" name="Text 61"/>
          <p:cNvSpPr/>
          <p:nvPr/>
        </p:nvSpPr>
        <p:spPr>
          <a:xfrm>
            <a:off x="7004304" y="630936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E8CA6"/>
                </a:solidFill>
              </a:rPr>
              <a:t>Sources: npm Docs · GitHub Docs · GitHub Blog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A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Student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Attackers Compromise Software Projects</dc:title>
  <dc:subject>Software Supply-Chain Security - Member 2</dc:subject>
  <dc:creator>OpenAI</dc:creator>
  <cp:lastModifiedBy>OpenAI</cp:lastModifiedBy>
  <cp:revision>1</cp:revision>
  <dcterms:created xsi:type="dcterms:W3CDTF">2026-10-19T13:48:15Z</dcterms:created>
  <dcterms:modified xsi:type="dcterms:W3CDTF">2026-10-19T13:48:15Z</dcterms:modified>
</cp:coreProperties>
</file>