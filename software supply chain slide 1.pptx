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0A9291-9BAB-4321-AD4F-EE6281DC09A7}" v="16" dt="2026-10-17T18:55:53.9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71" d="100"/>
          <a:sy n="71" d="100"/>
        </p:scale>
        <p:origin x="1090"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er Maburi" userId="657004dd2168cf85" providerId="LiveId" clId="{7A167686-B428-4FD6-828B-864CCE58230A}"/>
    <pc:docChg chg="modSld">
      <pc:chgData name="Alexander Maburi" userId="657004dd2168cf85" providerId="LiveId" clId="{7A167686-B428-4FD6-828B-864CCE58230A}" dt="2026-10-17T18:55:53.972" v="14"/>
      <pc:docMkLst>
        <pc:docMk/>
      </pc:docMkLst>
      <pc:sldChg chg="addSp delSp modSp modTransition modAnim">
        <pc:chgData name="Alexander Maburi" userId="657004dd2168cf85" providerId="LiveId" clId="{7A167686-B428-4FD6-828B-864CCE58230A}" dt="2026-10-17T18:55:53.972" v="14"/>
        <pc:sldMkLst>
          <pc:docMk/>
          <pc:sldMk cId="4106529012" sldId="256"/>
        </pc:sldMkLst>
        <pc:spChg chg="mod">
          <ac:chgData name="Alexander Maburi" userId="657004dd2168cf85" providerId="LiveId" clId="{7A167686-B428-4FD6-828B-864CCE58230A}" dt="2026-10-17T18:19:26.629" v="3"/>
          <ac:spMkLst>
            <pc:docMk/>
            <pc:sldMk cId="4106529012" sldId="256"/>
            <ac:spMk id="3" creationId="{8D7F5D76-739E-01BC-C8CF-2FBF551A1964}"/>
          </ac:spMkLst>
        </pc:spChg>
        <pc:picChg chg="add mod">
          <ac:chgData name="Alexander Maburi" userId="657004dd2168cf85" providerId="LiveId" clId="{7A167686-B428-4FD6-828B-864CCE58230A}" dt="2026-10-17T18:36:35.666" v="4"/>
          <ac:picMkLst>
            <pc:docMk/>
            <pc:sldMk cId="4106529012" sldId="256"/>
            <ac:picMk id="6" creationId="{46E33B90-AC67-D938-9780-7DCFCC3F3F3A}"/>
          </ac:picMkLst>
        </pc:picChg>
        <pc:picChg chg="del">
          <ac:chgData name="Alexander Maburi" userId="657004dd2168cf85" providerId="LiveId" clId="{7A167686-B428-4FD6-828B-864CCE58230A}" dt="2026-10-17T18:46:31.947" v="6"/>
          <ac:picMkLst>
            <pc:docMk/>
            <pc:sldMk cId="4106529012" sldId="256"/>
            <ac:picMk id="12" creationId="{DD950F59-76BE-7C92-93A2-171CD2D4FD38}"/>
          </ac:picMkLst>
        </pc:picChg>
        <pc:picChg chg="add del mod">
          <ac:chgData name="Alexander Maburi" userId="657004dd2168cf85" providerId="LiveId" clId="{7A167686-B428-4FD6-828B-864CCE58230A}" dt="2026-10-17T18:46:52.101" v="7"/>
          <ac:picMkLst>
            <pc:docMk/>
            <pc:sldMk cId="4106529012" sldId="256"/>
            <ac:picMk id="13" creationId="{0268EEC8-8824-A9FD-D73B-8CFC831E8699}"/>
          </ac:picMkLst>
        </pc:picChg>
        <pc:picChg chg="del">
          <ac:chgData name="Alexander Maburi" userId="657004dd2168cf85" providerId="LiveId" clId="{7A167686-B428-4FD6-828B-864CCE58230A}" dt="2026-10-17T18:50:04.393" v="8"/>
          <ac:picMkLst>
            <pc:docMk/>
            <pc:sldMk cId="4106529012" sldId="256"/>
            <ac:picMk id="16" creationId="{9450986A-060B-6EBC-8FBA-AA3BC626F7B9}"/>
          </ac:picMkLst>
        </pc:picChg>
        <pc:picChg chg="add del mod">
          <ac:chgData name="Alexander Maburi" userId="657004dd2168cf85" providerId="LiveId" clId="{7A167686-B428-4FD6-828B-864CCE58230A}" dt="2026-10-17T18:50:57.566" v="9"/>
          <ac:picMkLst>
            <pc:docMk/>
            <pc:sldMk cId="4106529012" sldId="256"/>
            <ac:picMk id="17" creationId="{105ADE0F-E3EA-EF91-5A86-408810477C2D}"/>
          </ac:picMkLst>
        </pc:picChg>
        <pc:picChg chg="del">
          <ac:chgData name="Alexander Maburi" userId="657004dd2168cf85" providerId="LiveId" clId="{7A167686-B428-4FD6-828B-864CCE58230A}" dt="2026-10-17T18:51:35.081" v="10"/>
          <ac:picMkLst>
            <pc:docMk/>
            <pc:sldMk cId="4106529012" sldId="256"/>
            <ac:picMk id="20" creationId="{B720D160-795B-B56C-97C4-3A569208F1F9}"/>
          </ac:picMkLst>
        </pc:picChg>
        <pc:picChg chg="add del mod">
          <ac:chgData name="Alexander Maburi" userId="657004dd2168cf85" providerId="LiveId" clId="{7A167686-B428-4FD6-828B-864CCE58230A}" dt="2026-10-17T18:54:00.774" v="11"/>
          <ac:picMkLst>
            <pc:docMk/>
            <pc:sldMk cId="4106529012" sldId="256"/>
            <ac:picMk id="21" creationId="{F0D76F36-E3EA-F008-04B5-094B4B029BCC}"/>
          </ac:picMkLst>
        </pc:picChg>
        <pc:picChg chg="del">
          <ac:chgData name="Alexander Maburi" userId="657004dd2168cf85" providerId="LiveId" clId="{7A167686-B428-4FD6-828B-864CCE58230A}" dt="2026-10-17T18:54:12.106" v="12"/>
          <ac:picMkLst>
            <pc:docMk/>
            <pc:sldMk cId="4106529012" sldId="256"/>
            <ac:picMk id="24" creationId="{3C8109F0-C61A-E6E2-66C4-A99C0E449133}"/>
          </ac:picMkLst>
        </pc:picChg>
        <pc:picChg chg="add del mod">
          <ac:chgData name="Alexander Maburi" userId="657004dd2168cf85" providerId="LiveId" clId="{7A167686-B428-4FD6-828B-864CCE58230A}" dt="2026-10-17T18:55:15.089" v="13"/>
          <ac:picMkLst>
            <pc:docMk/>
            <pc:sldMk cId="4106529012" sldId="256"/>
            <ac:picMk id="25" creationId="{5021D1CC-2F53-71EE-810A-CFB1A2A60450}"/>
          </ac:picMkLst>
        </pc:picChg>
        <pc:picChg chg="del">
          <ac:chgData name="Alexander Maburi" userId="657004dd2168cf85" providerId="LiveId" clId="{7A167686-B428-4FD6-828B-864CCE58230A}" dt="2026-10-17T18:55:53.972" v="14"/>
          <ac:picMkLst>
            <pc:docMk/>
            <pc:sldMk cId="4106529012" sldId="256"/>
            <ac:picMk id="28" creationId="{AD9A8DCC-1A69-0CF0-1CC3-74EEA29F3AA7}"/>
          </ac:picMkLst>
        </pc:picChg>
        <pc:picChg chg="add mod">
          <ac:chgData name="Alexander Maburi" userId="657004dd2168cf85" providerId="LiveId" clId="{7A167686-B428-4FD6-828B-864CCE58230A}" dt="2026-10-17T18:55:53.972" v="14"/>
          <ac:picMkLst>
            <pc:docMk/>
            <pc:sldMk cId="4106529012" sldId="256"/>
            <ac:picMk id="29" creationId="{F319E555-9780-DD49-47E9-97FCCCE85B0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765CE-96A1-AF14-9D65-1AB986D337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CDE32D7C-30A0-8B4C-E866-3422F7E5B7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29066BA3-4EE3-CE89-4F5D-8FA9312F067D}"/>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5" name="Footer Placeholder 4">
            <a:extLst>
              <a:ext uri="{FF2B5EF4-FFF2-40B4-BE49-F238E27FC236}">
                <a16:creationId xmlns:a16="http://schemas.microsoft.com/office/drawing/2014/main" id="{8A0DB0AA-BB1A-FF60-0BE7-8584A3BFF67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F25D2BA-B475-6C05-0C76-84732CE8159C}"/>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2822396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EF6D5-48B2-E593-D86A-39C9EF417E3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1EA1B72-3AA7-65B1-EA5A-A38CACE12B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262038B-4A85-B1AF-F027-054A66ABCE56}"/>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5" name="Footer Placeholder 4">
            <a:extLst>
              <a:ext uri="{FF2B5EF4-FFF2-40B4-BE49-F238E27FC236}">
                <a16:creationId xmlns:a16="http://schemas.microsoft.com/office/drawing/2014/main" id="{77E951A2-2865-2046-24D5-A7C5DBF55B4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5DD9217-5E9C-E0DB-58A3-FC570E02F4E5}"/>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2698186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4447E-A585-EFDB-2125-B140B05E72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8FAE885-BDDC-471B-3BF3-F90E582736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880742-55A7-804C-5EF7-576C614A48FB}"/>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5" name="Footer Placeholder 4">
            <a:extLst>
              <a:ext uri="{FF2B5EF4-FFF2-40B4-BE49-F238E27FC236}">
                <a16:creationId xmlns:a16="http://schemas.microsoft.com/office/drawing/2014/main" id="{A6F213E8-301A-A781-DD77-202F2EF24E6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EC4A107-042F-EE14-6EFC-4ED94283C521}"/>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791405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6111C-231C-5F0B-1AD2-B2C414CACD6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46CEB8F-EDB7-8D2E-4E2C-84A1C1A753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A1FF6CD-B63D-9ABA-288E-165E82BA95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3F09AD-8708-98F9-D6F6-A56FA301F492}"/>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6" name="Footer Placeholder 5">
            <a:extLst>
              <a:ext uri="{FF2B5EF4-FFF2-40B4-BE49-F238E27FC236}">
                <a16:creationId xmlns:a16="http://schemas.microsoft.com/office/drawing/2014/main" id="{D0E7B0EA-76E2-EFDD-DFB0-7CCC7A6CFC0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DE791AE-CED5-9095-3A9D-3BB61F0D2FD0}"/>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1817061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0EC06-2E57-A582-E609-4C51A62C828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A3DF920-02D2-58C7-7F0E-E328E86F4E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959DD5-AA18-6D18-9D23-DA6515360A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8FFE70CE-A703-7642-42B3-40CA64A59D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5E0FE6-831D-DE53-CAC6-6764A38030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00ADE9D-C0E4-774F-B21F-9EE9D15A8F0D}"/>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8" name="Footer Placeholder 7">
            <a:extLst>
              <a:ext uri="{FF2B5EF4-FFF2-40B4-BE49-F238E27FC236}">
                <a16:creationId xmlns:a16="http://schemas.microsoft.com/office/drawing/2014/main" id="{7777D2BD-20A0-97E9-9DBA-A77529E80680}"/>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3E5FAB07-276F-9D0B-FD8E-E87477F0CB36}"/>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3560750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79A0-9A51-7066-3DA1-B869334D5543}"/>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17F3A9E7-C69E-4548-B8A3-846FEF3AB6BB}"/>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4" name="Footer Placeholder 3">
            <a:extLst>
              <a:ext uri="{FF2B5EF4-FFF2-40B4-BE49-F238E27FC236}">
                <a16:creationId xmlns:a16="http://schemas.microsoft.com/office/drawing/2014/main" id="{57CE0389-8383-3632-2D23-B540A084A7AB}"/>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DA4F37DD-C5B5-BF7E-D98E-17BC604EB1D0}"/>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4198731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EF379D-32CE-8B67-3232-0C0AEDDBE7C4}"/>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3" name="Footer Placeholder 2">
            <a:extLst>
              <a:ext uri="{FF2B5EF4-FFF2-40B4-BE49-F238E27FC236}">
                <a16:creationId xmlns:a16="http://schemas.microsoft.com/office/drawing/2014/main" id="{73EE9C79-B26F-9BB7-E018-EA4639CEF04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1987118-8D3E-26F3-7BC4-0FA4FB022D7A}"/>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1048602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BC1A5-F75E-F78A-2389-B363F2339F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8E4453F-4999-AFF1-0211-D938CFED6F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86677BA9-041A-B594-BF8D-736AE6C4E0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47F601-87D5-52AC-AF15-68F594178DB1}"/>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6" name="Footer Placeholder 5">
            <a:extLst>
              <a:ext uri="{FF2B5EF4-FFF2-40B4-BE49-F238E27FC236}">
                <a16:creationId xmlns:a16="http://schemas.microsoft.com/office/drawing/2014/main" id="{E6CB695D-64A1-08B1-CCCF-4DB114A95C1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44BF207-36A6-A504-6F12-DB7FE6EBE0A4}"/>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3033889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2D159-5B26-8210-5F77-004D5F9ED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DD53297F-E30A-74FF-CD23-50FC694EB49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0F49A76-4DBE-7010-A343-E26EB678AC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F8F680-246B-6123-7562-882D27FCBD43}"/>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6" name="Footer Placeholder 5">
            <a:extLst>
              <a:ext uri="{FF2B5EF4-FFF2-40B4-BE49-F238E27FC236}">
                <a16:creationId xmlns:a16="http://schemas.microsoft.com/office/drawing/2014/main" id="{7F764418-FF03-5FA4-8DE3-64473F9080A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649807-9526-9075-876F-C20036A9B530}"/>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3923168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CD657-4976-C5C1-BC8C-4900EA6419E3}"/>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C472DE5-E13D-1DF1-3F60-AAA3984D2C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112767B-2C97-AE6D-9430-BB1601536305}"/>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5" name="Footer Placeholder 4">
            <a:extLst>
              <a:ext uri="{FF2B5EF4-FFF2-40B4-BE49-F238E27FC236}">
                <a16:creationId xmlns:a16="http://schemas.microsoft.com/office/drawing/2014/main" id="{B6C75072-BBBF-C476-D0E5-5FC2E716D08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23C573E-A4B2-E9B0-E5EB-145A34DFCF71}"/>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1343355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82157E-AF73-E0C1-27FB-D0D9D68866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731229E-BC1A-8871-7761-E6E75247B6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F6C467F-DB1B-2AEE-9E99-78678C76B707}"/>
              </a:ext>
            </a:extLst>
          </p:cNvPr>
          <p:cNvSpPr>
            <a:spLocks noGrp="1"/>
          </p:cNvSpPr>
          <p:nvPr>
            <p:ph type="dt" sz="half" idx="10"/>
          </p:nvPr>
        </p:nvSpPr>
        <p:spPr/>
        <p:txBody>
          <a:bodyPr/>
          <a:lstStyle/>
          <a:p>
            <a:fld id="{E45C5CF8-57C0-48AC-869A-D4690E7C7F31}" type="datetimeFigureOut">
              <a:rPr lang="en-CA" smtClean="0"/>
              <a:t>2026-10-17</a:t>
            </a:fld>
            <a:endParaRPr lang="en-CA"/>
          </a:p>
        </p:txBody>
      </p:sp>
      <p:sp>
        <p:nvSpPr>
          <p:cNvPr id="5" name="Footer Placeholder 4">
            <a:extLst>
              <a:ext uri="{FF2B5EF4-FFF2-40B4-BE49-F238E27FC236}">
                <a16:creationId xmlns:a16="http://schemas.microsoft.com/office/drawing/2014/main" id="{BA91AD95-A222-81B7-3E03-7AA3AE2B42E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DF1297D-EE5F-6630-BFBF-84374F4A7CE1}"/>
              </a:ext>
            </a:extLst>
          </p:cNvPr>
          <p:cNvSpPr>
            <a:spLocks noGrp="1"/>
          </p:cNvSpPr>
          <p:nvPr>
            <p:ph type="sldNum" sz="quarter" idx="12"/>
          </p:nvPr>
        </p:nvSpPr>
        <p:spPr/>
        <p:txBody>
          <a:bodyPr/>
          <a:lstStyle/>
          <a:p>
            <a:fld id="{D8A9BC85-924F-457F-96F4-BE7FDF0B04CC}" type="slidenum">
              <a:rPr lang="en-CA" smtClean="0"/>
              <a:t>‹#›</a:t>
            </a:fld>
            <a:endParaRPr lang="en-CA"/>
          </a:p>
        </p:txBody>
      </p:sp>
    </p:spTree>
    <p:extLst>
      <p:ext uri="{BB962C8B-B14F-4D97-AF65-F5344CB8AC3E}">
        <p14:creationId xmlns:p14="http://schemas.microsoft.com/office/powerpoint/2010/main" val="1703553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556E85-4928-6F2D-1D87-3E6A2AE288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BB94FC0-A95A-0E06-9FC7-682F4EFDF0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7279D09-8AEB-B821-AB31-69EF582345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5C5CF8-57C0-48AC-869A-D4690E7C7F31}" type="datetimeFigureOut">
              <a:rPr lang="en-CA" smtClean="0"/>
              <a:t>2026-10-17</a:t>
            </a:fld>
            <a:endParaRPr lang="en-CA"/>
          </a:p>
        </p:txBody>
      </p:sp>
      <p:sp>
        <p:nvSpPr>
          <p:cNvPr id="5" name="Footer Placeholder 4">
            <a:extLst>
              <a:ext uri="{FF2B5EF4-FFF2-40B4-BE49-F238E27FC236}">
                <a16:creationId xmlns:a16="http://schemas.microsoft.com/office/drawing/2014/main" id="{2875DC81-38C5-9688-48BF-7330C7E74B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5DE4C382-D1A3-E433-CEE0-396E0C35D0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A9BC85-924F-457F-96F4-BE7FDF0B04CC}" type="slidenum">
              <a:rPr lang="en-CA" smtClean="0"/>
              <a:t>‹#›</a:t>
            </a:fld>
            <a:endParaRPr lang="en-CA"/>
          </a:p>
        </p:txBody>
      </p:sp>
    </p:spTree>
    <p:extLst>
      <p:ext uri="{BB962C8B-B14F-4D97-AF65-F5344CB8AC3E}">
        <p14:creationId xmlns:p14="http://schemas.microsoft.com/office/powerpoint/2010/main" val="40646064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A096-04AC-D869-3148-ADF55E30E589}"/>
              </a:ext>
            </a:extLst>
          </p:cNvPr>
          <p:cNvSpPr>
            <a:spLocks noGrp="1"/>
          </p:cNvSpPr>
          <p:nvPr>
            <p:ph type="ctrTitle"/>
          </p:nvPr>
        </p:nvSpPr>
        <p:spPr>
          <a:xfrm>
            <a:off x="711199" y="355601"/>
            <a:ext cx="10210799" cy="1371599"/>
          </a:xfrm>
          <a:noFill/>
        </p:spPr>
        <p:txBody>
          <a:bodyPr>
            <a:normAutofit fontScale="90000"/>
          </a:bodyPr>
          <a:lstStyle/>
          <a:p>
            <a:r>
              <a:rPr lang="en-CA" sz="3300" b="1" dirty="0"/>
              <a:t>When Trusted Code Turns Dangerous: Software Supply-Chain Attacks in 2026</a:t>
            </a:r>
            <a:br>
              <a:rPr lang="en-CA" b="1" dirty="0"/>
            </a:br>
            <a:endParaRPr lang="en-CA" dirty="0"/>
          </a:p>
        </p:txBody>
      </p:sp>
      <p:sp>
        <p:nvSpPr>
          <p:cNvPr id="3" name="Subtitle 2">
            <a:extLst>
              <a:ext uri="{FF2B5EF4-FFF2-40B4-BE49-F238E27FC236}">
                <a16:creationId xmlns:a16="http://schemas.microsoft.com/office/drawing/2014/main" id="{8D7F5D76-739E-01BC-C8CF-2FBF551A1964}"/>
              </a:ext>
            </a:extLst>
          </p:cNvPr>
          <p:cNvSpPr>
            <a:spLocks noGrp="1"/>
          </p:cNvSpPr>
          <p:nvPr>
            <p:ph type="subTitle" idx="1"/>
          </p:nvPr>
        </p:nvSpPr>
        <p:spPr>
          <a:xfrm>
            <a:off x="711199" y="1041401"/>
            <a:ext cx="10210801" cy="4724400"/>
          </a:xfrm>
          <a:noFill/>
        </p:spPr>
        <p:txBody>
          <a:bodyPr>
            <a:normAutofit lnSpcReduction="10000"/>
          </a:bodyPr>
          <a:lstStyle/>
          <a:p>
            <a:pPr algn="just"/>
            <a:r>
              <a:rPr lang="en-CA" sz="1700" dirty="0"/>
              <a:t>A </a:t>
            </a:r>
            <a:r>
              <a:rPr lang="en-CA" sz="1700" b="1" dirty="0"/>
              <a:t>software supply chain</a:t>
            </a:r>
            <a:r>
              <a:rPr lang="en-CA" sz="1700" dirty="0"/>
              <a:t> refers to the entire ecosystem of components, tools, services, and processes involved in creating and delivering software.</a:t>
            </a:r>
          </a:p>
          <a:p>
            <a:pPr algn="just"/>
            <a:r>
              <a:rPr lang="en-CA" sz="1700" b="1" dirty="0"/>
              <a:t>Components include;</a:t>
            </a:r>
          </a:p>
          <a:p>
            <a:pPr marL="285750" lvl="0" indent="-285750" algn="just">
              <a:buFont typeface="Wingdings" panose="05000000000000000000" pitchFamily="2" charset="2"/>
              <a:buChar char="Ø"/>
            </a:pPr>
            <a:r>
              <a:rPr lang="en-CA" sz="1700" b="1" dirty="0"/>
              <a:t>Dependencies &amp; third‑party libraries:</a:t>
            </a:r>
            <a:r>
              <a:rPr lang="en-CA" sz="1700" dirty="0"/>
              <a:t> </a:t>
            </a:r>
            <a:r>
              <a:rPr lang="en-CA" sz="1800" dirty="0"/>
              <a:t>External code providing reusable functionality; includes direct and transitive dependencies</a:t>
            </a:r>
            <a:r>
              <a:rPr lang="en-CA" sz="1700" dirty="0"/>
              <a:t>. </a:t>
            </a:r>
          </a:p>
          <a:p>
            <a:pPr marL="285750" lvl="0" indent="-285750" algn="just">
              <a:buFont typeface="Wingdings" panose="05000000000000000000" pitchFamily="2" charset="2"/>
              <a:buChar char="Ø"/>
            </a:pPr>
            <a:r>
              <a:rPr lang="en-CA" sz="1700" b="1" dirty="0"/>
              <a:t>npm packages:</a:t>
            </a:r>
            <a:r>
              <a:rPr lang="en-CA" sz="1700" dirty="0"/>
              <a:t> JavaScript projects routinely pull thousands of packages from the npm registry, each maintained by different authors and inheriting their own dependency trees.</a:t>
            </a:r>
          </a:p>
          <a:p>
            <a:pPr marL="285750" lvl="0" indent="-285750" algn="just">
              <a:buFont typeface="Wingdings" panose="05000000000000000000" pitchFamily="2" charset="2"/>
              <a:buChar char="Ø"/>
            </a:pPr>
            <a:r>
              <a:rPr lang="en-CA" sz="1700" b="1" dirty="0"/>
              <a:t>GitHub repositories:</a:t>
            </a:r>
            <a:r>
              <a:rPr lang="en-CA" sz="1700" dirty="0"/>
              <a:t> </a:t>
            </a:r>
            <a:r>
              <a:rPr lang="en-CA" sz="1800" dirty="0"/>
              <a:t>Open‑source code, libraries, templates, and Actions sourced from GitHub.</a:t>
            </a:r>
          </a:p>
          <a:p>
            <a:pPr marL="285750" lvl="0" indent="-285750" algn="just">
              <a:buFont typeface="Wingdings" panose="05000000000000000000" pitchFamily="2" charset="2"/>
              <a:buChar char="Ø"/>
            </a:pPr>
            <a:r>
              <a:rPr lang="en-CA" sz="1700" dirty="0"/>
              <a:t> </a:t>
            </a:r>
            <a:r>
              <a:rPr lang="en-CA" sz="1700" b="1" dirty="0"/>
              <a:t>CI/CD pipelines:</a:t>
            </a:r>
            <a:r>
              <a:rPr lang="en-CA" sz="1700" dirty="0"/>
              <a:t> </a:t>
            </a:r>
            <a:r>
              <a:rPr lang="en-CA" sz="1800" dirty="0"/>
              <a:t>Automated systems that build, test, and deploy applications.</a:t>
            </a:r>
          </a:p>
          <a:p>
            <a:pPr marL="285750" lvl="0" indent="-285750" algn="just">
              <a:buFont typeface="Wingdings" panose="05000000000000000000" pitchFamily="2" charset="2"/>
              <a:buChar char="Ø"/>
            </a:pPr>
            <a:r>
              <a:rPr lang="en-CA" sz="1700" b="1" dirty="0"/>
              <a:t>GitHub Actions:</a:t>
            </a:r>
            <a:r>
              <a:rPr lang="en-CA" sz="1700" dirty="0"/>
              <a:t> A common CI/CD automation platform that executes workflows, builds artifacts, and pulls dependencies during the build process.</a:t>
            </a:r>
          </a:p>
          <a:p>
            <a:pPr algn="just"/>
            <a:r>
              <a:rPr lang="en-CA" sz="1600" dirty="0"/>
              <a:t>Modern software relies heavily on code that developers did not write themselves because open‑source libraries and packages dramatically speed up development, reduce complexity, and provide ready‑made solutions for common problems. However, this reliance introduces significant security risks: any compromised dependency, malicious npm package, vulnerable GitHub repository, or tampered CI/CD workflow can infect the entire application. </a:t>
            </a:r>
            <a:r>
              <a:rPr lang="en-CA" sz="1600" b="1" dirty="0"/>
              <a:t>A compromised supply chain can lead to; </a:t>
            </a:r>
            <a:r>
              <a:rPr lang="en-CA" sz="1600" dirty="0"/>
              <a:t>unauthorized access, data breaches, corrupted builds, production outages, regulatory compliance failures (e.g. SBOM requirements). </a:t>
            </a:r>
          </a:p>
          <a:p>
            <a:pPr algn="l"/>
            <a:endParaRPr lang="en-US" dirty="0"/>
          </a:p>
        </p:txBody>
      </p:sp>
      <p:pic>
        <p:nvPicPr>
          <p:cNvPr id="29" name="Video 28">
            <a:hlinkClick r:id="" action="ppaction://media"/>
            <a:extLst>
              <a:ext uri="{FF2B5EF4-FFF2-40B4-BE49-F238E27FC236}">
                <a16:creationId xmlns:a16="http://schemas.microsoft.com/office/drawing/2014/main" id="{F319E555-9780-DD49-47E9-97FCCCE85B05}"/>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21875" r="21875"/>
          <a:stretch>
            <a:fillRect/>
          </a:stretch>
        </p:blipFill>
        <p:spPr>
          <a:xfrm>
            <a:off x="10219764" y="4905487"/>
            <a:ext cx="1972235" cy="1952513"/>
          </a:xfrm>
          <a:prstGeom prst="ellipse">
            <a:avLst/>
          </a:prstGeom>
        </p:spPr>
      </p:pic>
    </p:spTree>
    <p:extLst>
      <p:ext uri="{BB962C8B-B14F-4D97-AF65-F5344CB8AC3E}">
        <p14:creationId xmlns:p14="http://schemas.microsoft.com/office/powerpoint/2010/main" val="4106529012"/>
      </p:ext>
    </p:extLst>
  </p:cSld>
  <p:clrMapOvr>
    <a:masterClrMapping/>
  </p:clrMapOvr>
  <mc:AlternateContent xmlns:mc="http://schemas.openxmlformats.org/markup-compatibility/2006">
    <mc:Choice xmlns:p14="http://schemas.microsoft.com/office/powerpoint/2010/main" Requires="p14">
      <p:transition spd="slow" p14:dur="2000" advTm="36410"/>
    </mc:Choice>
    <mc:Fallback>
      <p:transition spd="slow" advTm="36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9"/>
                </p:tgtEl>
              </p:cMediaNode>
            </p:video>
            <p:seq concurrent="1" nextAc="seek">
              <p:cTn id="8" restart="whenNotActive" fill="hold" evtFilter="cancelBubble" nodeType="interactiveSeq">
                <p:stCondLst>
                  <p:cond evt="onClick" delay="0">
                    <p:tgtEl>
                      <p:spTgt spid="2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9"/>
                                        </p:tgtEl>
                                      </p:cBhvr>
                                    </p:cmd>
                                  </p:childTnLst>
                                </p:cTn>
                              </p:par>
                            </p:childTnLst>
                          </p:cTn>
                        </p:par>
                      </p:childTnLst>
                    </p:cTn>
                  </p:par>
                </p:childTnLst>
              </p:cTn>
              <p:nextCondLst>
                <p:cond evt="onClick" delay="0">
                  <p:tgtEl>
                    <p:spTgt spid="29"/>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247</Words>
  <Application>Microsoft Office PowerPoint</Application>
  <PresentationFormat>Widescreen</PresentationFormat>
  <Paragraphs>9</Paragraphs>
  <Slides>1</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When Trusted Code Turns Dangerous: Software Supply-Chain Attacks in 2026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Maburi</dc:creator>
  <cp:lastModifiedBy>Alexander Maburi</cp:lastModifiedBy>
  <cp:revision>1</cp:revision>
  <dcterms:created xsi:type="dcterms:W3CDTF">2026-10-17T18:08:09Z</dcterms:created>
  <dcterms:modified xsi:type="dcterms:W3CDTF">2026-10-17T18:58:09Z</dcterms:modified>
</cp:coreProperties>
</file>